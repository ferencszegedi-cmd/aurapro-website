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Költség (M Ft)</c:v>
                </c:pt>
              </c:strCache>
            </c:strRef>
          </c:tx>
          <c:spPr>
            <a:solidFill>
              <a:srgbClr val="1B6CA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3A5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Nagyköveti díj (12×3,5 M)</c:v>
                  </c:pt>
                  <c:pt idx="1">
                    <c:v>Kommunikáció, videó</c:v>
                  </c:pt>
                  <c:pt idx="2">
                    <c:v>Technika (hang, fény)</c:v>
                  </c:pt>
                  <c:pt idx="3">
                    <c:v>Projektmenedzsment</c:v>
                  </c:pt>
                  <c:pt idx="4">
                    <c:v>Tartalék (5%)</c:v>
                  </c:pt>
                  <c:pt idx="5">
                    <c:v>Helyszín, szervezés</c:v>
                  </c:pt>
                  <c:pt idx="6">
                    <c:v>Utazás, szállás</c:v>
                  </c:pt>
                  <c:pt idx="7">
                    <c:v>Monitoring, hatásmérés</c:v>
                  </c:pt>
                  <c:pt idx="8">
                    <c:v>Szakértői díjak</c:v>
                  </c:pt>
                  <c:pt idx="9">
                    <c:v>Arculat, kreatív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42</c:v>
                </c:pt>
                <c:pt idx="1">
                  <c:v>6</c:v>
                </c:pt>
                <c:pt idx="2">
                  <c:v>4.8</c:v>
                </c:pt>
                <c:pt idx="3">
                  <c:v>4.5</c:v>
                </c:pt>
                <c:pt idx="4">
                  <c:v>3.4</c:v>
                </c:pt>
                <c:pt idx="5">
                  <c:v>3</c:v>
                </c:pt>
                <c:pt idx="6">
                  <c:v>2.4</c:v>
                </c:pt>
                <c:pt idx="7">
                  <c:v>2</c:v>
                </c:pt>
                <c:pt idx="8">
                  <c:v>1.8</c:v>
                </c:pt>
                <c:pt idx="9">
                  <c:v>1.5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3A5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E3A5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4EA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7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417320"/>
            <a:ext cx="4023360" cy="402336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/>
        </p:spPr>
      </p:sp>
      <p:pic>
        <p:nvPicPr>
          <p:cNvPr id="3" name="Image 0" descr="/home/user/aurapro-website/eu-roma-program/logo/felut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600200"/>
            <a:ext cx="3657600" cy="3657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94960" y="1554480"/>
            <a:ext cx="6309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spc="6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FELÚT</a:t>
            </a:r>
            <a:endParaRPr lang="en-US" sz="7200" dirty="0"/>
          </a:p>
        </p:txBody>
      </p:sp>
      <p:sp>
        <p:nvSpPr>
          <p:cNvPr id="5" name="Text 2"/>
          <p:cNvSpPr/>
          <p:nvPr/>
        </p:nvSpPr>
        <p:spPr>
          <a:xfrm>
            <a:off x="5394960" y="274320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Roma Felzárkóztatási Program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394960" y="342900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„Van kiút. Van felút.”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5394960" y="420624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program nagykövete: 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L.L. Junior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394960" y="470916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Döntéshozói összefoglaló · 2026. július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Miért most, miért így?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11247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hátrányos helyzetű roma közösségeket három lefelé húzó erő fenyegeti: a drog, az uzsora és a korai iskolaelhagyás. A tartós kirekesztés a legfontosabb erőforrást rombolja le: az önbizalmat. A hagyományos szociálpolitikai eszközök gyakran nem érik el a célcsoportot – hiteles hangra van szükség, amelyre a közösség valóban odafigyel.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2514600"/>
            <a:ext cx="3566160" cy="2377440"/>
          </a:xfrm>
          <a:prstGeom prst="roundRect">
            <a:avLst>
              <a:gd name="adj" fmla="val 4615"/>
            </a:avLst>
          </a:prstGeom>
          <a:solidFill>
            <a:srgbClr val="F4F7FA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2788920"/>
            <a:ext cx="502920" cy="502920"/>
          </a:xfrm>
          <a:prstGeom prst="ellipse">
            <a:avLst/>
          </a:prstGeom>
          <a:solidFill>
            <a:srgbClr val="D930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71600" y="27889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DROG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31520" y="347472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szerhasználat a kilátástalanságra adott válasz – a fiatalokat a legkorábban éri el.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297680" y="2514600"/>
            <a:ext cx="3566160" cy="2377440"/>
          </a:xfrm>
          <a:prstGeom prst="roundRect">
            <a:avLst>
              <a:gd name="adj" fmla="val 4615"/>
            </a:avLst>
          </a:prstGeom>
          <a:solidFill>
            <a:srgbClr val="F4F7FA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0" y="2788920"/>
            <a:ext cx="502920" cy="502920"/>
          </a:xfrm>
          <a:prstGeom prst="ellipse">
            <a:avLst/>
          </a:prstGeom>
          <a:solidFill>
            <a:srgbClr val="1B6CA8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212080" y="27889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UZSORA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72000" y="347472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 uzsorakölcsön-spirál családokat tesz tönkre, és generációkon át újratermeli a szegénységet.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138160" y="2514600"/>
            <a:ext cx="3566160" cy="2377440"/>
          </a:xfrm>
          <a:prstGeom prst="roundRect">
            <a:avLst>
              <a:gd name="adj" fmla="val 4615"/>
            </a:avLst>
          </a:prstGeom>
          <a:solidFill>
            <a:srgbClr val="F4F7FA"/>
          </a:solidFill>
          <a:ln/>
        </p:spPr>
      </p:sp>
      <p:sp>
        <p:nvSpPr>
          <p:cNvPr id="15" name="Shape 13"/>
          <p:cNvSpPr/>
          <p:nvPr/>
        </p:nvSpPr>
        <p:spPr>
          <a:xfrm>
            <a:off x="8412480" y="2788920"/>
            <a:ext cx="502920" cy="502920"/>
          </a:xfrm>
          <a:prstGeom prst="ellipse">
            <a:avLst/>
          </a:prstGeom>
          <a:solidFill>
            <a:srgbClr val="237547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052560" y="27889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ISKOLÁZATLANSÁG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412480" y="347472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korai iskolaelhagyás lezárja a munkaerőpiaci kiutat – a leszakadás öröklődik.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457200" y="5166360"/>
            <a:ext cx="11247120" cy="1005840"/>
          </a:xfrm>
          <a:prstGeom prst="roundRect">
            <a:avLst>
              <a:gd name="adj" fmla="val 10909"/>
            </a:avLst>
          </a:prstGeom>
          <a:solidFill>
            <a:srgbClr val="1E3A5F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516636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A negyedik, átfogó pillér: </a:t>
            </a:r>
            <a:pPr indent="0" marL="0">
              <a:buNone/>
            </a:pPr>
            <a:r>
              <a:rPr lang="en-US" sz="1600" b="1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ÖNBIZALOM</a:t>
            </a:r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a kirekesztés lerombolja, a program újraépíti. A származás nem determinálja a sorsot.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FELÚT – EU Roma Felzárkóztatási Program  ·  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program egy mondatban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822960" y="132588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6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Hat hónapon át, kéthetente, 12 városban L.L. Junior a helyi közösségi házakban személyesen mutatja meg a roma fiataloknak, hogyan kerülhetők el a drog, az uzsora és az iskolaelhagyás csapdái – és hogy honnan hová lehet eljutni romaként.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3108960"/>
            <a:ext cx="2606040" cy="2011680"/>
          </a:xfrm>
          <a:prstGeom prst="roundRect">
            <a:avLst>
              <a:gd name="adj" fmla="val 5455"/>
            </a:avLst>
          </a:prstGeom>
          <a:solidFill>
            <a:srgbClr val="F4F7F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29184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930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40080" y="425196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hónap futamidő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337560" y="3108960"/>
            <a:ext cx="2606040" cy="2011680"/>
          </a:xfrm>
          <a:prstGeom prst="roundRect">
            <a:avLst>
              <a:gd name="adj" fmla="val 5455"/>
            </a:avLst>
          </a:prstGeom>
          <a:solidFill>
            <a:srgbClr val="F4F7FA"/>
          </a:solidFill>
          <a:ln/>
        </p:spPr>
      </p:sp>
      <p:sp>
        <p:nvSpPr>
          <p:cNvPr id="8" name="Text 6"/>
          <p:cNvSpPr/>
          <p:nvPr/>
        </p:nvSpPr>
        <p:spPr>
          <a:xfrm>
            <a:off x="3337560" y="329184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930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3520440" y="425196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alkalom, kéthetente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3108960"/>
            <a:ext cx="2606040" cy="2011680"/>
          </a:xfrm>
          <a:prstGeom prst="roundRect">
            <a:avLst>
              <a:gd name="adj" fmla="val 5455"/>
            </a:avLst>
          </a:prstGeom>
          <a:solidFill>
            <a:srgbClr val="F4F7FA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329184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930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6400800" y="425196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város és közösségi ház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098280" y="3108960"/>
            <a:ext cx="2606040" cy="2011680"/>
          </a:xfrm>
          <a:prstGeom prst="roundRect">
            <a:avLst>
              <a:gd name="adj" fmla="val 5455"/>
            </a:avLst>
          </a:prstGeom>
          <a:solidFill>
            <a:srgbClr val="F4F7FA"/>
          </a:solidFill>
          <a:ln/>
        </p:spPr>
      </p:sp>
      <p:sp>
        <p:nvSpPr>
          <p:cNvPr id="14" name="Text 12"/>
          <p:cNvSpPr/>
          <p:nvPr/>
        </p:nvSpPr>
        <p:spPr>
          <a:xfrm>
            <a:off x="9098280" y="329184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930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3 000+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9281160" y="425196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közvetlenül elért résztvevő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548640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Minden alkalom témája rotálódik a három kockázat körül, és minden alkalom önbizalom-műhellyel zárul. Az eseményekről készült videók L.L. Junior csatornáin országos üzenetté erősítik a helyi programot.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FELÚT – EU Roma Felzárkóztatási Program  ·  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nagykövet: L.L. Junior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6035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Hitelesség, amit nem lehet megvenni. </a:t>
            </a:r>
            <a:pPr indent="0" marL="0">
              <a:buNone/>
            </a:pPr>
            <a:r>
              <a:rPr lang="en-US" sz="160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L.L. Junior roma származású, a Fekete Vonat alapító tagjaként az első országosan ismert roma hiphop-előadók egyike. Hátrányos helyzetből jutott el az országos ismertségig – a program üzenetét („honnan hová lehet eljutni romaként”) nem elmondja, hanem megtestesíti.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3291840"/>
            <a:ext cx="6035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Zenéje pontosan a legveszélyeztetettebb korosztályt (12–25 év) éri el, roma és nem roma fiatalok körében egyaránt. </a:t>
            </a:r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Nyilvánosan, büszkén vállalja roma identitását</a:t>
            </a:r>
            <a:pPr indent="0" marL="0">
              <a:buNone/>
            </a:pPr>
            <a:r>
              <a:rPr lang="en-US" sz="160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(„Cigány-ügy”, Made in Roma) – az önbizalom-üzenet tőle hiteles.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84632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B6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Vállalása: személyes jelenlét mind a 12 alkalmon, zenei blokk, saját csatornás terjesztés, kampányarc szerep.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0" y="1234440"/>
            <a:ext cx="4846320" cy="1417320"/>
          </a:xfrm>
          <a:prstGeom prst="roundRect">
            <a:avLst>
              <a:gd name="adj" fmla="val 7742"/>
            </a:avLst>
          </a:prstGeom>
          <a:solidFill>
            <a:srgbClr val="1E3A5F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0" y="1344168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~500 000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132320" y="201168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YouTube-feliratkozó (@lljuniorofficial)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58000" y="2834640"/>
            <a:ext cx="4846320" cy="1417320"/>
          </a:xfrm>
          <a:prstGeom prst="roundRect">
            <a:avLst>
              <a:gd name="adj" fmla="val 7742"/>
            </a:avLst>
          </a:prstGeom>
          <a:solidFill>
            <a:srgbClr val="1E3A5F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0" y="2944368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M+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7132320" y="361188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összesített megtekintés már 2011-ben – mára többszöröse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0" y="4434840"/>
            <a:ext cx="4846320" cy="1417320"/>
          </a:xfrm>
          <a:prstGeom prst="roundRect">
            <a:avLst>
              <a:gd name="adj" fmla="val 7742"/>
            </a:avLst>
          </a:prstGeom>
          <a:solidFill>
            <a:srgbClr val="1E3A5F"/>
          </a:solidFill>
          <a:ln/>
        </p:spPr>
      </p:sp>
      <p:sp>
        <p:nvSpPr>
          <p:cNvPr id="13" name="Text 11"/>
          <p:cNvSpPr/>
          <p:nvPr/>
        </p:nvSpPr>
        <p:spPr>
          <a:xfrm>
            <a:off x="7132320" y="4544568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25+ év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132320" y="521208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folyamatos jelenlét a magyar zenei élvonalban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0" y="60807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Források: YouTube / Famous Birthdays / Wikipédia (2026. júliusi lekérdezés); beadás előtt képernyőképpel dokumentálandó.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FELÚT – EU Roma Felzárkóztatási Program  ·  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Hogyan működik egy alkalom?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121408" cy="2743200"/>
          </a:xfrm>
          <a:prstGeom prst="roundRect">
            <a:avLst>
              <a:gd name="adj" fmla="val 4310"/>
            </a:avLst>
          </a:prstGeom>
          <a:solidFill>
            <a:srgbClr val="F4F7FA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" y="1536192"/>
            <a:ext cx="457200" cy="457200"/>
          </a:xfrm>
          <a:prstGeom prst="ellipse">
            <a:avLst/>
          </a:prstGeom>
          <a:solidFill>
            <a:srgbClr val="D93025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536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21792" y="2103120"/>
            <a:ext cx="1792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Zenei nyitány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21792" y="2788920"/>
            <a:ext cx="17922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L.L. Junior köszöntője, közös hangolódás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21792" y="3749040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30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perc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61488" y="1371600"/>
            <a:ext cx="2121408" cy="2743200"/>
          </a:xfrm>
          <a:prstGeom prst="roundRect">
            <a:avLst>
              <a:gd name="adj" fmla="val 4310"/>
            </a:avLst>
          </a:prstGeom>
          <a:solidFill>
            <a:srgbClr val="F4F7FA"/>
          </a:solidFill>
          <a:ln/>
        </p:spPr>
      </p:sp>
      <p:sp>
        <p:nvSpPr>
          <p:cNvPr id="10" name="Shape 8"/>
          <p:cNvSpPr/>
          <p:nvPr/>
        </p:nvSpPr>
        <p:spPr>
          <a:xfrm>
            <a:off x="2898648" y="1536192"/>
            <a:ext cx="457200" cy="457200"/>
          </a:xfrm>
          <a:prstGeom prst="ellipse">
            <a:avLst/>
          </a:prstGeom>
          <a:solidFill>
            <a:srgbClr val="D93025"/>
          </a:solidFill>
          <a:ln/>
        </p:spPr>
      </p:sp>
      <p:sp>
        <p:nvSpPr>
          <p:cNvPr id="11" name="Text 9"/>
          <p:cNvSpPr/>
          <p:nvPr/>
        </p:nvSpPr>
        <p:spPr>
          <a:xfrm>
            <a:off x="2898648" y="1536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926080" y="2103120"/>
            <a:ext cx="1792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„Honnan hová”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2926080" y="2788920"/>
            <a:ext cx="17922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nagykövet személyes története, motivációs beszélgetés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926080" y="3749040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30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perc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65776" y="1371600"/>
            <a:ext cx="2121408" cy="2743200"/>
          </a:xfrm>
          <a:prstGeom prst="roundRect">
            <a:avLst>
              <a:gd name="adj" fmla="val 4310"/>
            </a:avLst>
          </a:prstGeom>
          <a:solidFill>
            <a:srgbClr val="F4F7FA"/>
          </a:solidFill>
          <a:ln/>
        </p:spPr>
      </p:sp>
      <p:sp>
        <p:nvSpPr>
          <p:cNvPr id="16" name="Shape 14"/>
          <p:cNvSpPr/>
          <p:nvPr/>
        </p:nvSpPr>
        <p:spPr>
          <a:xfrm>
            <a:off x="5202936" y="1536192"/>
            <a:ext cx="457200" cy="457200"/>
          </a:xfrm>
          <a:prstGeom prst="ellipse">
            <a:avLst/>
          </a:prstGeom>
          <a:solidFill>
            <a:srgbClr val="D93025"/>
          </a:solidFill>
          <a:ln/>
        </p:spPr>
      </p:sp>
      <p:sp>
        <p:nvSpPr>
          <p:cNvPr id="17" name="Text 15"/>
          <p:cNvSpPr/>
          <p:nvPr/>
        </p:nvSpPr>
        <p:spPr>
          <a:xfrm>
            <a:off x="5202936" y="1536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230368" y="2103120"/>
            <a:ext cx="1792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Fókusztéma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5230368" y="2788920"/>
            <a:ext cx="17922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Drog / uzsora / iskola – helyi szakértővel (addiktológus, családsegítő, tanoda)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230368" y="3749040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30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perc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70064" y="1371600"/>
            <a:ext cx="2121408" cy="2743200"/>
          </a:xfrm>
          <a:prstGeom prst="roundRect">
            <a:avLst>
              <a:gd name="adj" fmla="val 4310"/>
            </a:avLst>
          </a:prstGeom>
          <a:solidFill>
            <a:srgbClr val="1E3A5F"/>
          </a:solidFill>
          <a:ln/>
        </p:spPr>
      </p:sp>
      <p:sp>
        <p:nvSpPr>
          <p:cNvPr id="22" name="Shape 20"/>
          <p:cNvSpPr/>
          <p:nvPr/>
        </p:nvSpPr>
        <p:spPr>
          <a:xfrm>
            <a:off x="7507224" y="1536192"/>
            <a:ext cx="457200" cy="457200"/>
          </a:xfrm>
          <a:prstGeom prst="ellipse">
            <a:avLst/>
          </a:prstGeom>
          <a:solidFill>
            <a:srgbClr val="D93025"/>
          </a:solidFill>
          <a:ln/>
        </p:spPr>
      </p:sp>
      <p:sp>
        <p:nvSpPr>
          <p:cNvPr id="23" name="Text 21"/>
          <p:cNvSpPr/>
          <p:nvPr/>
        </p:nvSpPr>
        <p:spPr>
          <a:xfrm>
            <a:off x="7507224" y="1536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534656" y="2103120"/>
            <a:ext cx="1792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Önbizalom-műhely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7534656" y="2788920"/>
            <a:ext cx="17922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Interaktív gyakorlatok, kérdezz-felelek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534656" y="3749040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30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perc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674352" y="1371600"/>
            <a:ext cx="2121408" cy="2743200"/>
          </a:xfrm>
          <a:prstGeom prst="roundRect">
            <a:avLst>
              <a:gd name="adj" fmla="val 4310"/>
            </a:avLst>
          </a:prstGeom>
          <a:solidFill>
            <a:srgbClr val="F4F7FA"/>
          </a:solidFill>
          <a:ln/>
        </p:spPr>
      </p:sp>
      <p:sp>
        <p:nvSpPr>
          <p:cNvPr id="28" name="Shape 26"/>
          <p:cNvSpPr/>
          <p:nvPr/>
        </p:nvSpPr>
        <p:spPr>
          <a:xfrm>
            <a:off x="9811512" y="1536192"/>
            <a:ext cx="457200" cy="457200"/>
          </a:xfrm>
          <a:prstGeom prst="ellipse">
            <a:avLst/>
          </a:prstGeom>
          <a:solidFill>
            <a:srgbClr val="D93025"/>
          </a:solidFill>
          <a:ln/>
        </p:spPr>
      </p:sp>
      <p:sp>
        <p:nvSpPr>
          <p:cNvPr id="29" name="Text 27"/>
          <p:cNvSpPr/>
          <p:nvPr/>
        </p:nvSpPr>
        <p:spPr>
          <a:xfrm>
            <a:off x="9811512" y="1536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9838944" y="2103120"/>
            <a:ext cx="1792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Zárás és továbblépés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9838944" y="2788920"/>
            <a:ext cx="17922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Közös zenélés, egyéni beszélgetés, továbbirányítás helyi szolgáltatásokhoz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838944" y="3749040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30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 perc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45262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Tematikai ütemezés a 12 alkalmon: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457200" y="4983480"/>
            <a:ext cx="3566160" cy="1051560"/>
          </a:xfrm>
          <a:prstGeom prst="roundRect">
            <a:avLst>
              <a:gd name="adj" fmla="val 8696"/>
            </a:avLst>
          </a:prstGeom>
          <a:solidFill>
            <a:srgbClr val="D93025"/>
          </a:solidFill>
          <a:ln/>
        </p:spPr>
      </p:sp>
      <p:sp>
        <p:nvSpPr>
          <p:cNvPr id="35" name="Text 33"/>
          <p:cNvSpPr/>
          <p:nvPr/>
        </p:nvSpPr>
        <p:spPr>
          <a:xfrm>
            <a:off x="685800" y="50749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1–4. alkalom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85800" y="54406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Drogprevenció + önbizalom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4297680" y="4983480"/>
            <a:ext cx="3566160" cy="1051560"/>
          </a:xfrm>
          <a:prstGeom prst="roundRect">
            <a:avLst>
              <a:gd name="adj" fmla="val 8696"/>
            </a:avLst>
          </a:prstGeom>
          <a:solidFill>
            <a:srgbClr val="1B6CA8"/>
          </a:solidFill>
          <a:ln/>
        </p:spPr>
      </p:sp>
      <p:sp>
        <p:nvSpPr>
          <p:cNvPr id="38" name="Text 36"/>
          <p:cNvSpPr/>
          <p:nvPr/>
        </p:nvSpPr>
        <p:spPr>
          <a:xfrm>
            <a:off x="4526280" y="50749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5–8. alkalom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4526280" y="54406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Uzsora és pénzügyi tudatosság + önbizalom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8138160" y="4983480"/>
            <a:ext cx="3566160" cy="1051560"/>
          </a:xfrm>
          <a:prstGeom prst="roundRect">
            <a:avLst>
              <a:gd name="adj" fmla="val 8696"/>
            </a:avLst>
          </a:prstGeom>
          <a:solidFill>
            <a:srgbClr val="237547"/>
          </a:solidFill>
          <a:ln/>
        </p:spPr>
      </p:sp>
      <p:sp>
        <p:nvSpPr>
          <p:cNvPr id="41" name="Text 39"/>
          <p:cNvSpPr/>
          <p:nvPr/>
        </p:nvSpPr>
        <p:spPr>
          <a:xfrm>
            <a:off x="8366760" y="50749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9–12. alkalom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8366760" y="54406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Iskola: a tanulás mint kiút + önbizalom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FELÚT – EU Roma Felzárkóztatási Program  ·  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alkalom – 12 közösség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Magas roma népességarányú városok; kulturális központok és közösségi házak, minden helyszínen a helyi roma nemzetiségi önkormányzat társrendezésében.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7360"/>
          <a:ext cx="1124712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4572000"/>
                <a:gridCol w="356616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Város / térség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Helyszín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Cím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B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Budapest VIII. (Magdolna-negyed)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B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Kesztyűgyár Közösségi Ház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B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1084 Bp., Mátyás tér 15.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B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Miskolc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B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Ifjúsági és Szabadidő Ház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B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3531 Miskolc, Győri kapu 27/A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B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Ózd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B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ÓMÉK – „Olvasó” Művelődési Központ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B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3600 Ózd, Gyár út 4.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B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Salgótarján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B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József Attila Művelődési Központ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B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3100 Salgótarján, Fő tér 5.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B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Nyíregyháza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B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Váci Mihály Kulturális Központ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B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4400 Nyíregyháza, Szabadság tér 9.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B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Debrecen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B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DMK közösségi ház (egyeztetés alatt)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B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4024 Debrecen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B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Pécs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B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Gandhi Gimnázium díszterme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B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7629 Pécs, Komját Aladár u. 5.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B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Szeged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B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Szent-Györgyi Albert Agóra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B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6722 Szeged, Kálvária sgt. 23.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B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Békéscsaba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B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Csabagyöngye Kulturális Központ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B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5600 Békéscsaba, Széchenyi u. 4.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B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Tatabánya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B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Vértes Agorája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B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2800 Tatabánya, Szent Borbála tér 1.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B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Kaposvár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B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Együd Árpád Kulturális Központ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B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7400 Kaposvár, Nagy Imre tér 2.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B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Heves térség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B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helyi művelődési központ (egyeztetés alatt)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B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Heves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FELÚT – EU Roma Felzárkóztatási Program  ·  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Költségvetés: 71,4 M Ft / 6 hónap</a:t>
            </a:r>
            <a:endParaRPr lang="en-US" sz="3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280160"/>
          <a:ext cx="694944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7772400" y="1280160"/>
            <a:ext cx="3931920" cy="2103120"/>
          </a:xfrm>
          <a:prstGeom prst="roundRect">
            <a:avLst>
              <a:gd name="adj" fmla="val 5217"/>
            </a:avLst>
          </a:prstGeom>
          <a:solidFill>
            <a:srgbClr val="1E3A5F"/>
          </a:solidFill>
          <a:ln/>
        </p:spPr>
      </p:sp>
      <p:sp>
        <p:nvSpPr>
          <p:cNvPr id="5" name="Text 2"/>
          <p:cNvSpPr/>
          <p:nvPr/>
        </p:nvSpPr>
        <p:spPr>
          <a:xfrm>
            <a:off x="8046720" y="14630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3,5 M Ft / alkalom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8046720" y="2057400"/>
            <a:ext cx="3383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nagyköveti díj: a programnapokon kieső kereskedelmi fellépések ellentételezése – tartalmazza a teljes napos jelenlétet és a médiafeladatokat is.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772400" y="3611880"/>
            <a:ext cx="3931920" cy="2514600"/>
          </a:xfrm>
          <a:prstGeom prst="roundRect">
            <a:avLst>
              <a:gd name="adj" fmla="val 4364"/>
            </a:avLst>
          </a:prstGeom>
          <a:solidFill>
            <a:srgbClr val="F4F7FA"/>
          </a:solidFill>
          <a:ln/>
        </p:spPr>
      </p:sp>
      <p:sp>
        <p:nvSpPr>
          <p:cNvPr id="8" name="Text 5"/>
          <p:cNvSpPr/>
          <p:nvPr/>
        </p:nvSpPr>
        <p:spPr>
          <a:xfrm>
            <a:off x="8046720" y="37947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Fajlagos költség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092440" y="4206240"/>
            <a:ext cx="3383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~23 800 Ft / közvetlenül elért fő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~70 Ft / elérés az online eléréssel együtt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178 500 EUR – a tipikus ESF+ projektméret-sávban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FELÚT – EU Roma Felzárkóztatási Program  ·  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Finanszírozás: nyitott EU-források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3566160" cy="3383280"/>
          </a:xfrm>
          <a:prstGeom prst="roundRect">
            <a:avLst>
              <a:gd name="adj" fmla="val 3243"/>
            </a:avLst>
          </a:prstGeom>
          <a:solidFill>
            <a:srgbClr val="F4F7FA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600200"/>
            <a:ext cx="1920240" cy="384048"/>
          </a:xfrm>
          <a:prstGeom prst="roundRect">
            <a:avLst>
              <a:gd name="adj" fmla="val 19048"/>
            </a:avLst>
          </a:pr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002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FŐ PÁLYA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21488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ESF+ · Roma NEETs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269748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„Strengthening the European Child Guarantee and supporting Roma NEETs” – a Roma NEET-komponens közvetlenül a program célcsoportját támogatja.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1520" y="41148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30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Beadási határidő: 2026. szeptember 30.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97680" y="1325880"/>
            <a:ext cx="3566160" cy="3383280"/>
          </a:xfrm>
          <a:prstGeom prst="roundRect">
            <a:avLst>
              <a:gd name="adj" fmla="val 3243"/>
            </a:avLst>
          </a:prstGeom>
          <a:solidFill>
            <a:srgbClr val="F4F7FA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0" y="1600200"/>
            <a:ext cx="1920240" cy="384048"/>
          </a:xfrm>
          <a:prstGeom prst="roundRect">
            <a:avLst>
              <a:gd name="adj" fmla="val 19048"/>
            </a:avLst>
          </a:prstGeom>
          <a:solidFill>
            <a:srgbClr val="1B6CA8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16002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FOLYTATÁS / 2. ÉVAD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0" y="21488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CERV · esélyegyenlőség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72000" y="269748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2026-os CERV-felhívások (pl. CERV-2026-NRCP, antidiszkrimináció) az önbizalom- és kirekesztés-ellenes pillérre illeszkednek.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0" y="41148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30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Folyamatosan nyíló felhívások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138160" y="1325880"/>
            <a:ext cx="3566160" cy="3383280"/>
          </a:xfrm>
          <a:prstGeom prst="roundRect">
            <a:avLst>
              <a:gd name="adj" fmla="val 3243"/>
            </a:avLst>
          </a:prstGeom>
          <a:solidFill>
            <a:srgbClr val="F4F7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12480" y="1600200"/>
            <a:ext cx="1920240" cy="384048"/>
          </a:xfrm>
          <a:prstGeom prst="roundRect">
            <a:avLst>
              <a:gd name="adj" fmla="val 19048"/>
            </a:avLst>
          </a:prstGeom>
          <a:solidFill>
            <a:srgbClr val="237547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0" y="16002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KIEGÉSZÍTŐ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412480" y="21488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ROVA · Roma for Change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412480" y="269748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Magyarországi roma és pro-roma civil szervezetek kisprojektjei – a kommunikációs modul társfinanszírozására.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412480" y="41148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30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Max. 25 000 EUR / projekt, 13 hónap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7200" y="5029200"/>
            <a:ext cx="11247120" cy="1143000"/>
          </a:xfrm>
          <a:prstGeom prst="roundRect">
            <a:avLst>
              <a:gd name="adj" fmla="val 9600"/>
            </a:avLst>
          </a:prstGeom>
          <a:solidFill>
            <a:srgbClr val="1E3A5F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5029200"/>
            <a:ext cx="10698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Finanszírozási szerkezet: </a:t>
            </a:r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 EU-s támogatás (~64,3 M Ft) + 10% önerő / vállalati CSR-szponzoráció (~7,1 M Ft). </a:t>
            </a:r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helyszíneket az önkormányzatok kedvezményesen biztosítják.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FELÚT – EU Roma Felzárkóztatási Program  ·  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 várunk a 6 hónap végére?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606040" cy="2103120"/>
          </a:xfrm>
          <a:prstGeom prst="roundRect">
            <a:avLst>
              <a:gd name="adj" fmla="val 5217"/>
            </a:avLst>
          </a:prstGeom>
          <a:solidFill>
            <a:srgbClr val="F4F7F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0020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930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3 000+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25603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közvetlen résztvevő a 12 helyszínen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337560" y="1371600"/>
            <a:ext cx="2606040" cy="2103120"/>
          </a:xfrm>
          <a:prstGeom prst="roundRect">
            <a:avLst>
              <a:gd name="adj" fmla="val 5217"/>
            </a:avLst>
          </a:prstGeom>
          <a:solidFill>
            <a:srgbClr val="F4F7FA"/>
          </a:solidFill>
          <a:ln/>
        </p:spPr>
      </p:sp>
      <p:sp>
        <p:nvSpPr>
          <p:cNvPr id="7" name="Text 5"/>
          <p:cNvSpPr/>
          <p:nvPr/>
        </p:nvSpPr>
        <p:spPr>
          <a:xfrm>
            <a:off x="3337560" y="160020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B6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M+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3520440" y="25603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megtekintés a nagykövet csatornáin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371600"/>
            <a:ext cx="2606040" cy="2103120"/>
          </a:xfrm>
          <a:prstGeom prst="roundRect">
            <a:avLst>
              <a:gd name="adj" fmla="val 5217"/>
            </a:avLst>
          </a:prstGeom>
          <a:solidFill>
            <a:srgbClr val="F4F7FA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0" y="160020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375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+30%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6400800" y="25603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kockázat-ismereti szint növekedés (elő-/utómérés)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098280" y="1371600"/>
            <a:ext cx="2606040" cy="2103120"/>
          </a:xfrm>
          <a:prstGeom prst="roundRect">
            <a:avLst>
              <a:gd name="adj" fmla="val 5217"/>
            </a:avLst>
          </a:prstGeom>
          <a:solidFill>
            <a:srgbClr val="F4F7FA"/>
          </a:solidFill>
          <a:ln/>
        </p:spPr>
      </p:sp>
      <p:sp>
        <p:nvSpPr>
          <p:cNvPr id="13" name="Text 11"/>
          <p:cNvSpPr/>
          <p:nvPr/>
        </p:nvSpPr>
        <p:spPr>
          <a:xfrm>
            <a:off x="9098280" y="160020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24+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9281160" y="25603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helyi partnerség (tanodák, családsegítők)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38404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Társadalmi megtérülés (SROI-logika):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" y="4297680"/>
            <a:ext cx="10881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Egyetlen megelőzött droghasználói életút társadalmi megtakarítása több tízmillió forint.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Egy megelőzött korai iskolaelhagyás életpálya-szinten többletadó-bevételt hoz és csökkenti a segélyfüggőséget.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Egy uzsoracsapdából kimentett család: megőrzött lakhatás, elkerült gyermekvédelmi beavatkozás.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 az elért 3 000 főből csak 2% (60 fő) esetében történik érdemi fordulat, a társadalmi megtérülés meghaladja a teljes költségvetést.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FELÚT – EU Roma Felzárkóztatási Program  ·  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aurapro-website/eu-roma-program/logo/felut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011680"/>
            <a:ext cx="2834640" cy="28346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85800" y="1874520"/>
            <a:ext cx="3108960" cy="3108960"/>
          </a:xfrm>
          <a:prstGeom prst="roundRect">
            <a:avLst>
              <a:gd name="adj" fmla="val 4412"/>
            </a:avLst>
          </a:prstGeom>
          <a:solidFill>
            <a:srgbClr val="FFFFFF">
              <a:alpha val="0"/>
            </a:srgbClr>
          </a:solidFill>
          <a:ln w="19050">
            <a:solidFill>
              <a:srgbClr val="F5C518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297680" y="1828800"/>
            <a:ext cx="7406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i="1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„Van kiút. Van felút.”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4297680" y="288036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döntés, amit ma meg lehet hozni: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480560" y="3429000"/>
            <a:ext cx="7223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Pályázat beadása az ESF+ Roma NEETs felhívásra 2026. szeptember 30-ig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Nagyköveti szerződés rögzítése L.L. Juniorral a 12 időpontra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Helyszín-előfoglalás a 12 kulturális központban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297680" y="576072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FELÚT – EU Roma Felzárkóztatási Program · Döntéshozói összefoglaló ·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FELÚT – EU Roma Felzárkóztatási Program</dc:title>
  <dc:subject>PptxGenJS Presentation</dc:subject>
  <dc:creator>FELÚT Program</dc:creator>
  <cp:lastModifiedBy>FELÚT Program</cp:lastModifiedBy>
  <cp:revision>1</cp:revision>
  <dcterms:created xsi:type="dcterms:W3CDTF">2026-07-26T07:53:35Z</dcterms:created>
  <dcterms:modified xsi:type="dcterms:W3CDTF">2026-07-26T07:53:35Z</dcterms:modified>
</cp:coreProperties>
</file>