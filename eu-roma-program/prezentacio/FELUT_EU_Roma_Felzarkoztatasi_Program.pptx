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Költség (M Ft)</c:v>
                </c:pt>
              </c:strCache>
            </c:strRef>
          </c:tx>
          <c:spPr>
            <a:solidFill>
              <a:srgbClr val="1B6C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Nagyköveti díj (12×3,5 M)</c:v>
                  </c:pt>
                  <c:pt idx="1">
                    <c:v>Kommunikáció, videó</c:v>
                  </c:pt>
                  <c:pt idx="2">
                    <c:v>Technika (hang, fény)</c:v>
                  </c:pt>
                  <c:pt idx="3">
                    <c:v>Projektmenedzsment</c:v>
                  </c:pt>
                  <c:pt idx="4">
                    <c:v>Utazás, szállás (határon túli)</c:v>
                  </c:pt>
                  <c:pt idx="5">
                    <c:v>Tartalék (5%)</c:v>
                  </c:pt>
                  <c:pt idx="6">
                    <c:v>Helyszín, szervezés</c:v>
                  </c:pt>
                  <c:pt idx="7">
                    <c:v>Monitoring, hatásmérés</c:v>
                  </c:pt>
                  <c:pt idx="8">
                    <c:v>Szakértői díjak</c:v>
                  </c:pt>
                  <c:pt idx="9">
                    <c:v>Arculat, kreatív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</c:v>
                </c:pt>
                <c:pt idx="1">
                  <c:v>6</c:v>
                </c:pt>
                <c:pt idx="2">
                  <c:v>4.8</c:v>
                </c:pt>
                <c:pt idx="3">
                  <c:v>4.5</c:v>
                </c:pt>
                <c:pt idx="4">
                  <c:v>3.6</c:v>
                </c:pt>
                <c:pt idx="5">
                  <c:v>3.5</c:v>
                </c:pt>
                <c:pt idx="6">
                  <c:v>3</c:v>
                </c:pt>
                <c:pt idx="7">
                  <c:v>2</c:v>
                </c:pt>
                <c:pt idx="8">
                  <c:v>1.8</c:v>
                </c:pt>
                <c:pt idx="9">
                  <c:v>1.5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3A5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4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7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1 PERC – Köszöntés, bemutatkozás. Egy mondat: a FELÚT program arról szól, hogy a hátrányos helyzetű roma fiataloknak legyen felfelé vezető útjuk – és ezt az üzenetet az ország egyik leghitelesebb roma előadója, L.L. Junior viszi el hozzájuk személyesen.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1 PERC – A 30 perc három tíz perces blokkra oszlik: probléma, megoldás, erőforrások. A végén konkrét döntési javaslat lesz, határidővel.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2,5 PERC – A kiinduló helyzet: a három kockázat nem elmélet, hanem a helyi közösségek mindennapja. Hangsúly: a klasszikus eszközök (plakát, iskolai előadás) nem érnek el; a hiteles hang igen. A következő három dián a három kockázatot vesszük végig egyenként.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Kulcsüzenet: a prevenció ott hat, ahol a hitelesség megvan. A rendőrségi/iskolai előadásokat a célcsoport elengedi; egy rapper történetét nem. Említhető: minden helyszínen a helyi addiktológiai szakszolgálat is jelen van, tehát az esemény a helyi ellátórendszerbe csatornáz.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Az uzsora a legkevésbé kibeszélt téma a háromból; épp ezért itt a legnagyobb a színpadi nyilvánosság ereje. Hangsúly: nem jogi előadás, hanem gyakorlati önvédelem + helyi segítő szervezetek bemutatása.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Szimbolikus erő: Pécsen a Gandhi Gimnázium (az ország első roma nemzetiségi gimnáziuma) ad helyszínt. A tanoda-partnerek a helyszínen regisztrálják az érdeklődőket – az esemény azonnal szolgáltatásba csatornáz.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Ez a dia köti össze a három kockázatot: mindhárom mögött az önbizalom hiánya áll. A műhelymunka nem „tréning” szárazon: a zene, a színpad, a közös élmény építi vissza a hitet. Innen váltás a megoldás blokkra: hogyan néz ki mindez a gyakorlatban?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 modell lényege az ismétlődés és a helyi beágyazottság: nem egyszeri koncert, hanem 6 hónapos jelenlét. A kéthetes ritmus fenntartja a figyelmet és követhetővé teszi a hatást.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2,5 PERC – Itt érdemes 20-30 másodperces videórészletet is bejátszani a csatornáról (youtube.com/@lljuniorofficial), ha a terem technikája engedi. Kulcsérv: a médiaérték önmagában is jelentős – az 500 ezres feliratkozói bázis és a milliós videónézettségek azt jelentik, hogy a program üzenete a 12 helyszínen túl országosan terjed.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 3 órás forgatókönyv kipróbált dramaturgia: zenével nyit és zár, közte a tartalmi blokkok. A továbbirányítás a kulcs: minden alkalom végén a helyi szolgáltatók (tanoda, családsegítő, addiktológia) standjainál lehet azonnal kapcsolatot felvenni.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1,5 PERC – A tematikai ív tudatos: a leglátványosabb témával (drog) indítunk, a legnehezebben kibeszélhetővel (uzsora) folytatjuk, és a legkonstruktívabbal (iskola) zárunk, hogy a program felfelé ívelő érzéssel érjen véget.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 hazai hat helyszín a magas roma népességarányú térségeket fedi le, a határon túli hat pedig a Kárpát-medence magyar ajkú roma közösségeit: Gömör (Fülek, Rimaszombat), Partium (Nagyvárad, Szatmárnémeti), Vajdaság (Szabadka), Kárpátalja (Beregszász). A határon túli termek pontos címét a helyi magyar művelődési intézményekkel való egyeztetés rögzíti. Szlovákia és Románia EU-tag (ESF+/Erasmus+ jogosult), a szerb és ukrán helyszínek a Bethlen Gábor Alapból finanszírozhatók.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2,5 PERC – A nagyköveti díj a költségvetés legnagyobb tétele, és ezt nyíltan vállaljuk: a 3,5 M Ft/alkalom a kieső kereskedelmi fellépések ellentételezése, cserébe teljes napos jelenlét + médiafeladatok. A megemelt utazási sor a 6 határon túli alkalom többlet-útiköltségét fedezi. A fajlagos mutató a döntéshozói kulcsszám: ~72 Ft/elérés az online eléréssel együtt.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Három pillér: (1) ESF+ Gyermekgarancia/Roma NEETs, beadás szeptember 30-ig – ezért sürgős a döntés. (2) Hazai: az EFOP+ Tanoda-felhívás október 30-tól beadható, 5,5 Mrd Ft kerettel; a BM roma nemzetiségi felhívásai (770 M Ft) a tábor- és kulturális elemekhez. (3) A határon túli alkalmakat a helyi társrendezők BGA-pályázatai fedezik; a szerb és ukrán helyszín EU-forrásból közvetlenül nem finanszírozható, ott a BGA a járható út.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2 PERC – A KPI-k mérhetők és vállalhatók: részvétel, online elérés, ismeretszint-mérés, partnerségek. A SROI-érv a zárómondat: 2% érdemi fordulat már „nullára hozza” a programot társadalmi szinten.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1,5 PERC – Az ütemterv a pályázati naptárhoz igazodik. A kockázatlista rövid, de őszinte: mind a négy kockázatnak van kezelési terve, és mindegyik szerződéses vagy szervezési eszközzel kezelhető.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KB. 1 PERC + KÉRDÉSEK – Zárás a szlogennel és a három konkrét döntési ponttal. Ezután kérdések. Teljes előadás: kb. 30 perc, kérdésekkel együtt 40-45 perc.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17320"/>
            <a:ext cx="4023360" cy="402336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aurapro-website/eu-roma-program/logo/felu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00200"/>
            <a:ext cx="3657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4960" y="146304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5394960" y="26517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Roma Felzárkóztatási Program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394960" y="33375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„Van kiút. Van felút.”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39496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 nagykövete: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L.L. Junior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394960" y="45720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youtube.com/@lljuniorofficial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394960" y="50292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Döntéshozói előadás · kb. 30 perc · 2026. július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Miről lesz szó? – 30 perc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63040"/>
            <a:ext cx="201168" cy="1371600"/>
          </a:xfrm>
          <a:prstGeom prst="roundRect">
            <a:avLst/>
          </a:prstGeom>
          <a:solidFill>
            <a:srgbClr val="D93025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00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A PROBLÉMA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Miért most? A három lefelé húzó erő: drog, uzsora, iskolázatlanság – és a lerombolt önbizalom.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875520" y="1600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kb. 10 perc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3063240"/>
            <a:ext cx="201168" cy="1371600"/>
          </a:xfrm>
          <a:prstGeom prst="roundRect">
            <a:avLst/>
          </a:prstGeom>
          <a:solidFill>
            <a:srgbClr val="1B6CA8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 MEGOLDÁS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65760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FELÚT modell: 6 hónap, 12 alkalom, 6 hazai + 6 határon túli helyszín – L.L. Junior nagykövettel.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875520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kb. 10 perc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663440"/>
            <a:ext cx="11247120" cy="13716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4663440"/>
            <a:ext cx="201168" cy="1371600"/>
          </a:xfrm>
          <a:prstGeom prst="roundRect">
            <a:avLst/>
          </a:prstGeom>
          <a:solidFill>
            <a:srgbClr val="237547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800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ERŐFORRÁSOK ÉS DÖNTÉS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525780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Költségvetés, nyitott hazai és EU-források, várt eredmények, ütemterv – és a mai döntési javaslat.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875520" y="4800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7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kb. 10 perc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Miért most, miért így?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~2,5′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hátrányos helyzetű roma gyerekeket három lefelé húzó erő fenyegeti – és mindhárom már gyerekkorban támad: a drog, az uzsora és a korai iskolaelhagyás. A tartós kirekesztés a legfontosabb erőforrást rombolja le: az önbizalmat. A hagyományos eszközök gyakran nem érik el a gyerekeket és családjaikat – hiteles hangra van szükség, amelyre valóban odafigyelnek.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4F7FA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2788920"/>
            <a:ext cx="502920" cy="50292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2788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szerhasználat a kilátástalanságra adott válasz – a fiatalokat a legkorábban éri el.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297680" y="2514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4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0" y="2788920"/>
            <a:ext cx="502920" cy="502920"/>
          </a:xfrm>
          <a:prstGeom prst="ellipse">
            <a:avLst/>
          </a:prstGeom>
          <a:solidFill>
            <a:srgbClr val="1B6CA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212080" y="2788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UZSORA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72000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 uzsorakölcsön-spirál családokat tesz tönkre, és generációkon át újratermeli a szegénységet.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38160" y="251460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F4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8412480" y="2788920"/>
            <a:ext cx="502920" cy="502920"/>
          </a:xfrm>
          <a:prstGeom prst="ellipse">
            <a:avLst/>
          </a:prstGeom>
          <a:solidFill>
            <a:srgbClr val="237547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052560" y="27889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ISKOLÁZATLANSÁG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412480" y="34747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korai iskolaelhagyás lezárja a munkaerőpiaci kiutat – a leszakadás öröklődik.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7200" y="5166360"/>
            <a:ext cx="11247120" cy="1005840"/>
          </a:xfrm>
          <a:prstGeom prst="roundRect">
            <a:avLst>
              <a:gd name="adj" fmla="val 10909"/>
            </a:avLst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16636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 negyedik, átfogó pillér: </a:t>
            </a:r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ÖNBIZALOM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 kirekesztés lerombolja, a program újraépíti. A származás nem determinálja a sorsot.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kockázat: a drog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D9302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DROGPREVENCIÓ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F4F7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látunk?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dizájnerdrogok a legszegényebb telepeken a legolcsóbbak és a legpusztítóbbak.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fiatalok kortárs nyomás és kilátástalanság miatt próbálják ki – gyakran 12–14 évesen.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függőség az iskolából és a munkából is kivezet, a család egészét magával rántja.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tesz a FELÚT?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7512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Nyílt beszéd a színpadon: L.L. Junior a zenéje és a saját környezete tapasztalatain keresztül beszél a drogról.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Helyi addiktológus és felépült érintett minden alkalmon – azonnali kapcsolat a helyi ellátáshoz.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„Mondj nemet úgy, hogy megmarad a helyed a közösségben” – gyakorlati technikák a kortárs nyomás kezelésére.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D93025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Cél: a kipróbálás előtti utolsó pillanatban elérni a fiatalokat – hiteles hangon, nem hatósági szigorral.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kockázat: az uzsora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1B6CA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PÉNZÜGYI ÖNVÉDELEM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F4F7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látunk?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Ahol a bankrendszer nem elérhető, az uzsorás az egyetlen „hitelező” – heti kamatra.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Egyetlen temetés vagy betegség elég a teljes eladósodáshoz; a tartozás generációkra öröklődik.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 uzsora félelemre épül – a családok nem mernek segítséget kérni.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tesz a FELÚT?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7512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Kimondjuk a színpadon, amiről a faluban mindenki hallgat – a nyilvánosság az uzsora legnagyobb ellensége.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Pénzügyi önvédelmi blokk: családi költségvetés, banki alapszolgáltatások, adósságrendezés lehetőségei.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Családsegítő és áldozatsegítő szolgálatok bemutatása név szerint, helyben – hová lehet fordulni.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1B6CA8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Cél: megtörni a hallgatást, és minden résztvevőnek konkrét, helyi segítségkérési utat adni.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kockázat: az iskolázatlanság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23754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TANULÁS MINT KIÚT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F4F7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látunk?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korai iskolaelhagyás a roma fiatalok körében többszöröse az országos átlagnak.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lemorzsolódás oka gyakran nem a képesség, hanem a minta és a hit hiánya: „úgysem sikerülhet”.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Végzettség nélkül csak a fekete- vagy szürkegazdaság marad – a kör bezárul.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486400" cy="3108960"/>
          </a:xfrm>
          <a:prstGeom prst="roundRect">
            <a:avLst>
              <a:gd name="adj" fmla="val 3529"/>
            </a:avLst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tesz a FELÚT?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7512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„Honnan hová” – a nagykövet és helyi roma példaképek (vállalkozó, szakmunkás, egyetemista) történetei.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helyi tanodák és ösztöndíjprogramok bemutatása, helyszíni regisztrációs lehetőséggel.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szülők külön megszólítása: az ő döntésük is, hogy a gyerek bent marad-e az iskolában.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11111"/>
            </a:avLst>
          </a:prstGeom>
          <a:solidFill>
            <a:srgbClr val="237547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Cél: minden alkalom után mérhetően több tanodai jelentkezés és bent maradó diák a térségben.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negyedik pillér: az önbizalom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„A kirekesztés nem csak lehetőségeket vesz el.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hitet veszi el, hogy egyáltalán érdemes elindulni.”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32004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4290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Amit a kirekesztés okoz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20624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Megbélyegzettség az iskolában és a hétköznapokban. A gyerek előbb adja fel, mint hogy először próbálkozna.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32004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1B6CA8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34290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Amit a program ad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420624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Önbizalom-műhely minden alkalmon: siker-történetek, színpadi szereplés, közös zene – az „én is képes vagyok rá” élménye.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3200400"/>
            <a:ext cx="3566160" cy="2743200"/>
          </a:xfrm>
          <a:prstGeom prst="roundRect">
            <a:avLst>
              <a:gd name="adj" fmla="val 4000"/>
            </a:avLst>
          </a:prstGeom>
          <a:solidFill>
            <a:srgbClr val="237547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34290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Amit a nagykövet bizonyít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12480" y="420624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L.L. Junior maga a bizonyíték: a származás nem ítélet. A roma identitás vállalható – és erőforrás lehet.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megoldás egy mondatban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3258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1B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 hónapon át, kéthetente, 6 hazai és 6 határon túli városban L.L. Junior a helyi közösségi házakban személyesen mutatja meg a roma gyerekeknek és családjaiknak, hogyan kerülhetők el a drog, az uzsora és az iskolaelhagyás csapdái – és hogy honnan hová lehet eljutni romaként.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31089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2918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0080" y="4251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hónap futamidő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31089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32918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3520440" y="4251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alkalom, kéthetente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31089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32918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6+6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400800" y="4251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hazai és határon túli helyszín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98280" y="310896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9098280" y="32918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3 000+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9281160" y="4251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elért gyerek és családtag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548640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Minden alkalom témája rotálódik a három kockázat körül, és minden alkalom önbizalom-műhellyel zárul. Az eseményekről készült videók L.L. Junior csatornáin országos üzenetté erősítik a helyi programot.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nagykövet: L.L. Junior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~2,5′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Hitelesség, amit nem lehet megvenni. </a:t>
            </a:r>
            <a:pPr indent="0" marL="0">
              <a:buNone/>
            </a:pPr>
            <a:r>
              <a:rPr lang="en-US" sz="16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L.L. Junior roma származású, a Fekete Vonat alapító tagjaként az első országosan ismert roma hiphop-előadók egyike. Hátrányos helyzetből jutott el az országos ismertségig – a program üzenetét („honnan hová lehet eljutni romaként”) nem elmondja, hanem megtestesíti.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Zenéjét a roma gyerekek és tizenévesek is ismerik és szeretik – pontosan azt a korosztályt éri el, amelyet a program véd. </a:t>
            </a:r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Nyilvánosan, büszkén vállalja roma identitását</a:t>
            </a:r>
            <a:pPr indent="0" marL="0">
              <a:buNone/>
            </a:pPr>
            <a:r>
              <a:rPr lang="en-US" sz="16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(„Cigány-ügy”, Made in Roma) – az önbizalom-üzenet tőle hiteles.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8463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Vállalása: személyes jelenlét mind a 12 alkalmon, zenei blokk, saját csatornás terjesztés, kampányarc szerep.
</a:t>
            </a:r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Csatorna: youtube.com/@lljuniorofficial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0" y="1234440"/>
            <a:ext cx="4846320" cy="1417320"/>
          </a:xfrm>
          <a:prstGeom prst="roundRect">
            <a:avLst>
              <a:gd name="adj" fmla="val 7742"/>
            </a:avLst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0" y="134416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~500 000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132320" y="2011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YouTube-feliratkozó (@lljuniorofficial)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0" y="2834640"/>
            <a:ext cx="4846320" cy="1417320"/>
          </a:xfrm>
          <a:prstGeom prst="roundRect">
            <a:avLst>
              <a:gd name="adj" fmla="val 7742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0" y="294436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M+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132320" y="36118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összesített megtekintés már 2011-ben – mára többszöröse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0" y="4434840"/>
            <a:ext cx="4846320" cy="1417320"/>
          </a:xfrm>
          <a:prstGeom prst="roundRect">
            <a:avLst>
              <a:gd name="adj" fmla="val 7742"/>
            </a:avLst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0" y="4544568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25+ év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132320" y="52120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folyamatos jelenlét a magyar zenei élvonalban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0" y="60807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Források: YouTube / Famous Birthdays / Wikipédia (2026. júliusi lekérdezés); beadás előtt képernyőképpel dokumentálandó.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Hogyan működik egy alkalom? (kb. 3 óra)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121408" cy="2834640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1627632"/>
            <a:ext cx="457200" cy="45720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21792" y="219456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Zenei nyitány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" y="292608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L.L. Junior köszöntője, közös hangolódás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" y="393192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perc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61488" y="1463040"/>
            <a:ext cx="2121408" cy="2834640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2898648" y="1627632"/>
            <a:ext cx="457200" cy="45720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3" name="Text 11"/>
          <p:cNvSpPr/>
          <p:nvPr/>
        </p:nvSpPr>
        <p:spPr>
          <a:xfrm>
            <a:off x="2898648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926080" y="219456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„Honnan hová”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292608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nagykövet személyes története, motivációs beszélgetés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26080" y="393192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perc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65776" y="1463040"/>
            <a:ext cx="2121408" cy="2834640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5202936" y="1627632"/>
            <a:ext cx="457200" cy="45720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9" name="Text 17"/>
          <p:cNvSpPr/>
          <p:nvPr/>
        </p:nvSpPr>
        <p:spPr>
          <a:xfrm>
            <a:off x="5202936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230368" y="219456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Fókusztéma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30368" y="292608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 / uzsora / iskola – helyi szakértővel (addiktológus, családsegítő, tanoda)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30368" y="393192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perc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70064" y="1463040"/>
            <a:ext cx="2121408" cy="2834640"/>
          </a:xfrm>
          <a:prstGeom prst="roundRect">
            <a:avLst>
              <a:gd name="adj" fmla="val 4310"/>
            </a:avLst>
          </a:prstGeom>
          <a:solidFill>
            <a:srgbClr val="1E3A5F"/>
          </a:solidFill>
          <a:ln/>
        </p:spPr>
      </p:sp>
      <p:sp>
        <p:nvSpPr>
          <p:cNvPr id="24" name="Shape 22"/>
          <p:cNvSpPr/>
          <p:nvPr/>
        </p:nvSpPr>
        <p:spPr>
          <a:xfrm>
            <a:off x="7507224" y="1627632"/>
            <a:ext cx="457200" cy="45720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25" name="Text 23"/>
          <p:cNvSpPr/>
          <p:nvPr/>
        </p:nvSpPr>
        <p:spPr>
          <a:xfrm>
            <a:off x="7507224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534656" y="219456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Önbizalom-műhely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534656" y="292608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Interaktív gyakorlatok, kérdezz-felelek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534656" y="393192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perc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674352" y="1463040"/>
            <a:ext cx="2121408" cy="2834640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/>
        </p:spPr>
      </p:sp>
      <p:sp>
        <p:nvSpPr>
          <p:cNvPr id="30" name="Shape 28"/>
          <p:cNvSpPr/>
          <p:nvPr/>
        </p:nvSpPr>
        <p:spPr>
          <a:xfrm>
            <a:off x="9811512" y="1627632"/>
            <a:ext cx="457200" cy="45720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31" name="Text 29"/>
          <p:cNvSpPr/>
          <p:nvPr/>
        </p:nvSpPr>
        <p:spPr>
          <a:xfrm>
            <a:off x="9811512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838944" y="219456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Zárás, továbblépés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838944" y="292608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Közös zenélés, egyéni beszélgetés, továbbirányítás helyi szolgáltatásokhoz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838944" y="393192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perc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709160"/>
            <a:ext cx="11247120" cy="1325880"/>
          </a:xfrm>
          <a:prstGeom prst="roundRect">
            <a:avLst>
              <a:gd name="adj" fmla="val 8276"/>
            </a:avLst>
          </a:prstGeom>
          <a:solidFill>
            <a:srgbClr val="F4F7FA"/>
          </a:solidFill>
          <a:ln/>
        </p:spPr>
      </p:sp>
      <p:sp>
        <p:nvSpPr>
          <p:cNvPr id="36" name="Text 34"/>
          <p:cNvSpPr/>
          <p:nvPr/>
        </p:nvSpPr>
        <p:spPr>
          <a:xfrm>
            <a:off x="777240" y="4709160"/>
            <a:ext cx="10698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Minden alkalomról professzionális videó-összefoglaló készül</a:t>
            </a:r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amely a nagykövet csatornáin és a program felületein terjed – a helyi esemény így országos üzenetté válik, és a következő helyszínek toborzását is erősíti.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alkalom – tematikai ív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~1,5′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47120" cy="1280160"/>
          </a:xfrm>
          <a:prstGeom prst="roundRect">
            <a:avLst>
              <a:gd name="adj" fmla="val 8571"/>
            </a:avLst>
          </a:prstGeom>
          <a:solidFill>
            <a:srgbClr val="D9302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270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1–4. alkalom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98424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DROGPREVENCIÓ fókusz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0" y="141732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kipróbálás előtti elérés, kortárs nyomás kezelése, helyi ellátórendszer bemutatása.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11247120" cy="1280160"/>
          </a:xfrm>
          <a:prstGeom prst="roundRect">
            <a:avLst>
              <a:gd name="adj" fmla="val 8571"/>
            </a:avLst>
          </a:prstGeom>
          <a:solidFill>
            <a:srgbClr val="1B6CA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358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5–8. alkalom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349300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UZSORA ÉS PÉNZÜGYI TUDATOSSÁG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20640" y="292608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hallgatás megtörése, pénzügyi önvédelem, adósságrendezési és áldozatsegítő utak.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434840"/>
            <a:ext cx="11247120" cy="1280160"/>
          </a:xfrm>
          <a:prstGeom prst="roundRect">
            <a:avLst>
              <a:gd name="adj" fmla="val 8571"/>
            </a:avLst>
          </a:prstGeom>
          <a:solidFill>
            <a:srgbClr val="237547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5445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9–12. alkalom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7240" y="50017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ISKOLA – A TANULÁS MINT KIÚT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20640" y="4434840"/>
            <a:ext cx="630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Példaképek, tanodai regisztráció, ösztöndíjak, a szülők megszólítása.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60350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minden alkalom állandó eleme: önbizalom-műhely és zenei blokk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hazai + 6 határon túli helyszín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helyszínek fele határon túli magyar roma közösség (Felvidék–Gömör, Partium, Vajdaság, Kárpátalja); mindenhol a helyi roma és magyar közösségi szervezetek a társrendezők.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557784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Régió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Város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Helyszín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MAGYARORSZÁG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Budapest VIII. (Magdolna-negyed)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Kesztyűgyár Közösségi Ház, Mátyás tér 15.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MAGYARORSZÁG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Miskolc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Ifjúsági és Szabadidő Ház, Győri kapu 27/A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MAGYARORSZÁG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Ózd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ÓMÉK – „Olvasó” Művelődési Központ, Gyár út 4.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MAGYARORSZÁG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Salgótarján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József Attila Művelődési Központ, Fő tér 5.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MAGYARORSZÁG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Nyíregyháza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Váci Mihály Kulturális Központ, Szabadság tér 9.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MAGYARORSZÁG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Pécs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Gandhi Gimnázium díszterme, Komját Aladár u. 5.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75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FELVIDÉK (SK)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Fülek / Fiľakovo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Füleki Vigadó (cím egyeztetés alatt)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75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FELVIDÉK (SK)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Rimaszombat / Rim. Sobota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Városi Művelődési Központ (egyeztetés alatt)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75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PARTIUM (RO)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Nagyvárad / Oradea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magyar kulturális intézmény (egyeztetés alatt)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75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PARTIUM (RO)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Szatmárnémeti / Satu Mare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Északi Színház – Harag Gy. Társulat (egyeztetés alatt)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75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VAJDASÁG (RS)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Szabadka / Subotica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Népkör Magyar Művelődési Központ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E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754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KÁRPÁTALJA (UA)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Beregszász / Berehove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B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Európa–Magyar Ház (cím egyeztetés alatt)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Költségvetés: 72,7 M Ft / 6 hónap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~2,5′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8016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280160"/>
            <a:ext cx="3931920" cy="2103120"/>
          </a:xfrm>
          <a:prstGeom prst="roundRect">
            <a:avLst>
              <a:gd name="adj" fmla="val 5217"/>
            </a:avLst>
          </a:prstGeom>
          <a:solidFill>
            <a:srgbClr val="1E3A5F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0" y="1463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3,5 M Ft / alkalom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046720" y="205740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nagyköveti díj: a programnapokon kieső kereskedelmi fellépések ellentételezése – tartalmazza a teljes napos jelenlétet és a médiafeladatokat is.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0" y="3611880"/>
            <a:ext cx="3931920" cy="2514600"/>
          </a:xfrm>
          <a:prstGeom prst="roundRect">
            <a:avLst>
              <a:gd name="adj" fmla="val 4364"/>
            </a:avLst>
          </a:prstGeom>
          <a:solidFill>
            <a:srgbClr val="F4F7F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3794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Fajlagos költség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92440" y="420624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~24 200 Ft / közvetlenül elért fő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~72 Ft / elérés az online eléréssel együtt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181 650 EUR – a tipikus ESF+ projektméret-sávban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Finanszírozás: nyitott hazai és EU-források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4F7FA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6002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600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FŐ EU-PÁLYA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ESF+ · Gyermekgarancia + Roma NEETs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 Európai Gyermekgarancia komponens kifejezetten a rászoruló gyerekeknek nyújtott szolgáltatásokat támogatja (12 M EUR keret) – a FELÚT gyerekfókuszához ez a fő forrás.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4114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Beadási határidő: 2026. szeptember 30.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4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0" y="16002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D9302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600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MAGYAR FORRÁSOK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Hazai felhívások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72000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EFOP+ Tanoda-pályázatok (5,5 Mrd Ft keret) · BM roma nemzetiségi felhívások (770 M Ft: tábor, kultúra) · EFOP+ 3.3.3-25 roma lányok tanulmányi támogatása.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0" y="4114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Tanoda-beadás: 2026. október 30-tól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3816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4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8412480" y="16002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237547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1600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BGA + ERASMUS+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12480" y="2148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Határon túli források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12480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6 határon túli alkalom helyi költségeire a társrendező magyar intézmények Bethlen Gábor Alap-pályázatai (500e–2M Ft/szervezet); SK/RO helyszínekre Erasmus+ és CERV is.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412480" y="4114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BGA: NIR-en, éves kiírások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47120" cy="1143000"/>
          </a:xfrm>
          <a:prstGeom prst="roundRect">
            <a:avLst>
              <a:gd name="adj" fmla="val 9600"/>
            </a:avLst>
          </a:prstGeom>
          <a:solidFill>
            <a:srgbClr val="1E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502920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Finanszírozási szerkezet: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pályázati támogatás (~65,4 M Ft) + 10% önerő / CSR-szponzoráció (~7,3 M Ft). </a:t>
            </a:r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Kiegészítés: ROVA – Roma for Change (max. 25 000 EUR) a kommunikációs modulra.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várunk a 6 hónap végére?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4F7F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600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30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3 000+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elért gyerek és családtag a 12 helyszínen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37560" y="1371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4F7FA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600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B6C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M+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520440" y="25603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megtekintés a nagykövet csatornáin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4F7FA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1600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37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400800" y="25603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kockázat-ismereti szint növekedés (elő-/utómérés)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98280" y="1371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4F7FA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1600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24+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9281160" y="25603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helyi partnerség (tanodák, családsegítők)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Társadalmi megtérülés (SROI-logika):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Egyetlen megelőzött droghasználói életút társadalmi megtakarítása több tízmillió forint.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 megelőzött korai iskolaelhagyás életpálya-szinten többletadó-bevételt hoz és csökkenti a segélyfüggőséget.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 uzsoracsapdából kimentett család: megőrzött lakhatás, elkerült gyermekvédelmi beavatkozás.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 az elért 3 000 főből csak 2% (60 fő) esetében történik érdemi fordulat, a társadalmi megtérülés meghaladja a teljes költségvetést.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Ütemterv és kockázatkezelés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561320" y="45720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10561320" y="4572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~1,5′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502920" cy="50292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3716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0–2. hónap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78308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Pályázat beadása (2026. szept. 30.), partneri és nagyköveti szerződések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670048"/>
            <a:ext cx="502920" cy="50292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25603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hónap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971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Előkészítés: helyszínfoglalás, toborzás, kampányindítás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858768"/>
            <a:ext cx="502920" cy="50292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858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37490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4–9. hónap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80160" y="41605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12 alkalom megvalósítása, kéthetente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5047488"/>
            <a:ext cx="502920" cy="502920"/>
          </a:xfrm>
          <a:prstGeom prst="ellipse">
            <a:avLst/>
          </a:prstGeom>
          <a:solidFill>
            <a:srgbClr val="D93025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047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4937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hónap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80160" y="53492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Hatásmérés, záró rendezvény, beszámoló, folytatási javaslat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1371600"/>
            <a:ext cx="5486400" cy="4663440"/>
          </a:xfrm>
          <a:prstGeom prst="roundRect">
            <a:avLst>
              <a:gd name="adj" fmla="val 2353"/>
            </a:avLst>
          </a:prstGeom>
          <a:solidFill>
            <a:srgbClr val="F4F7FA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1600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négy fő kockázat és kezelése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9400" y="21488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Alacsony részvétel → roma önkormányzatok és tanodák toboroznak; a program ingyenes, a zene vonz.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Naptárütközés → a 12 időpont szerződésben rögzítve, tartalékdátumokkal.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Pályázati csúszás → az ütemezés a támogatási szerződéshez igazítva, előkészítési szakasz beépítve.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Médiakockázat → egységes kommunikációs terv, a nagyköveti szerződésben rögzített értékrend.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aurapro-website/eu-roma-program/logo/felu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2834640" cy="2834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1874520"/>
            <a:ext cx="3108960" cy="3108960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19050">
            <a:solidFill>
              <a:srgbClr val="F5C518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297680" y="169164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F5C5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„Van kiút. Van felút.”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297680" y="27432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döntés, amit ma meg lehet hozni: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480560" y="3291840"/>
            <a:ext cx="7223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ESF+ pályázat beadása 2026. szeptember 30-ig, EFOP+ Tanoda-pályázat október 30-tól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Nagyköveti szerződés rögzítése L.L. Juniorral a 12 időpontra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Helyszín-egyeztetés a 6 hazai és 6 határon túli közösségi intézménnyel (BGA-pályázatokkal)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297680" y="521208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Kapcsolat: L.L. Junior · lljunior777@gmail.com · youtube.com/@lljuniorofficial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297680" y="576072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· kb. 30 perces döntéshozói előadás · 2026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FELÚT – EU Roma Felzárkóztatási Program  ·  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FELÚT – EU Roma Felzárkóztatási Program (30 perces előadás)</dc:title>
  <dc:subject>PptxGenJS Presentation</dc:subject>
  <dc:creator>FELÚT Program</dc:creator>
  <cp:lastModifiedBy>FELÚT Program</cp:lastModifiedBy>
  <cp:revision>1</cp:revision>
  <dcterms:created xsi:type="dcterms:W3CDTF">2026-07-26T08:24:54Z</dcterms:created>
  <dcterms:modified xsi:type="dcterms:W3CDTF">2026-07-26T08:24:54Z</dcterms:modified>
</cp:coreProperties>
</file>